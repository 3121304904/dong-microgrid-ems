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a28ef28864483b" /><Relationship Type="http://schemas.openxmlformats.org/officeDocument/2006/relationships/extended-properties" Target="/docProps/app.xml" Id="R1ad79a84895d4a10" /><Relationship Type="http://schemas.openxmlformats.org/officeDocument/2006/relationships/officeDocument" Target="/ppt/presentation.xml" Id="R28f78d22317447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9c1dd7f37c450d"/>
  </p:sldMasterIdLst>
  <p:notesMasterIdLst>
    <p:notesMasterId xmlns:r="http://schemas.openxmlformats.org/officeDocument/2006/relationships" r:id="Re7d772d1a3d647c6"/>
  </p:notesMasterIdLst>
  <p:sldIdLst>
    <p:sldId xmlns:r="http://schemas.openxmlformats.org/officeDocument/2006/relationships" id="256" r:id="Rd21dd3d252c348ff"/>
    <p:sldId xmlns:r="http://schemas.openxmlformats.org/officeDocument/2006/relationships" id="257" r:id="R511af9d6ad264b31"/>
    <p:sldId xmlns:r="http://schemas.openxmlformats.org/officeDocument/2006/relationships" id="258" r:id="R8b6fa6bfd1c1484b"/>
    <p:sldId xmlns:r="http://schemas.openxmlformats.org/officeDocument/2006/relationships" id="259" r:id="R669eaac9f3204cf5"/>
    <p:sldId xmlns:r="http://schemas.openxmlformats.org/officeDocument/2006/relationships" id="260" r:id="R82783d4eb2924f17"/>
    <p:sldId xmlns:r="http://schemas.openxmlformats.org/officeDocument/2006/relationships" id="261" r:id="R6eab30c356d2420f"/>
    <p:sldId xmlns:r="http://schemas.openxmlformats.org/officeDocument/2006/relationships" id="262" r:id="Rd7dedb1655ff41e2"/>
    <p:sldId xmlns:r="http://schemas.openxmlformats.org/officeDocument/2006/relationships" id="263" r:id="Ra3326e568c884b27"/>
    <p:sldId xmlns:r="http://schemas.openxmlformats.org/officeDocument/2006/relationships" id="264" r:id="R618074ff21e5493d"/>
    <p:sldId xmlns:r="http://schemas.openxmlformats.org/officeDocument/2006/relationships" id="265" r:id="R9f53dad2cd8b44a3"/>
    <p:sldId xmlns:r="http://schemas.openxmlformats.org/officeDocument/2006/relationships" id="266" r:id="Rc842456c94be4439"/>
    <p:sldId xmlns:r="http://schemas.openxmlformats.org/officeDocument/2006/relationships" id="267" r:id="Rde8825db22634d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ef26776d8748a6" /><Relationship Type="http://schemas.openxmlformats.org/officeDocument/2006/relationships/slideMaster" Target="/ppt/slideMasters/slideMaster1.xml" Id="Rc89c1dd7f37c450d" /><Relationship Type="http://schemas.openxmlformats.org/officeDocument/2006/relationships/notesMaster" Target="/ppt/notesMasters/notesMaster1.xml" Id="Re7d772d1a3d647c6" /><Relationship Type="http://schemas.openxmlformats.org/officeDocument/2006/relationships/presProps" Target="/ppt/presProps.xml" Id="R991aa3d055804f20" /><Relationship Type="http://schemas.openxmlformats.org/officeDocument/2006/relationships/tableStyles" Target="/ppt/tableStyles.xml" Id="R15bc2e906ddc4b2a" /><Relationship Type="http://schemas.openxmlformats.org/officeDocument/2006/relationships/slide" Target="/ppt/slides/slide1.xml" Id="Rd21dd3d252c348ff" /><Relationship Type="http://schemas.openxmlformats.org/officeDocument/2006/relationships/slide" Target="/ppt/slides/slide2.xml" Id="R511af9d6ad264b31" /><Relationship Type="http://schemas.openxmlformats.org/officeDocument/2006/relationships/slide" Target="/ppt/slides/slide3.xml" Id="R8b6fa6bfd1c1484b" /><Relationship Type="http://schemas.openxmlformats.org/officeDocument/2006/relationships/slide" Target="/ppt/slides/slide4.xml" Id="R669eaac9f3204cf5" /><Relationship Type="http://schemas.openxmlformats.org/officeDocument/2006/relationships/slide" Target="/ppt/slides/slide5.xml" Id="R82783d4eb2924f17" /><Relationship Type="http://schemas.openxmlformats.org/officeDocument/2006/relationships/slide" Target="/ppt/slides/slide6.xml" Id="R6eab30c356d2420f" /><Relationship Type="http://schemas.openxmlformats.org/officeDocument/2006/relationships/slide" Target="/ppt/slides/slide7.xml" Id="Rd7dedb1655ff41e2" /><Relationship Type="http://schemas.openxmlformats.org/officeDocument/2006/relationships/slide" Target="/ppt/slides/slide8.xml" Id="Ra3326e568c884b27" /><Relationship Type="http://schemas.openxmlformats.org/officeDocument/2006/relationships/slide" Target="/ppt/slides/slide9.xml" Id="R618074ff21e5493d" /><Relationship Type="http://schemas.openxmlformats.org/officeDocument/2006/relationships/slide" Target="/ppt/slides/slide10.xml" Id="R9f53dad2cd8b44a3" /><Relationship Type="http://schemas.openxmlformats.org/officeDocument/2006/relationships/slide" Target="/ppt/slides/slide11.xml" Id="Rc842456c94be4439" /><Relationship Type="http://schemas.openxmlformats.org/officeDocument/2006/relationships/slide" Target="/ppt/slides/slide12.xml" Id="Rde8825db22634d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71ffbaa79b4b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3fcda24f554d35" /><Relationship Type="http://schemas.openxmlformats.org/officeDocument/2006/relationships/notesMaster" Target="/ppt/notesMasters/notesMaster1.xml" Id="R2e8a3354eb214d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6ded505b2d4193" /><Relationship Type="http://schemas.openxmlformats.org/officeDocument/2006/relationships/notesMaster" Target="/ppt/notesMasters/notesMaster1.xml" Id="Rf8246b7b5e2e42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bbc56be3845f2" /><Relationship Type="http://schemas.openxmlformats.org/officeDocument/2006/relationships/notesMaster" Target="/ppt/notesMasters/notesMaster1.xml" Id="R96589b5249d742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f68001744a483a" /><Relationship Type="http://schemas.openxmlformats.org/officeDocument/2006/relationships/notesMaster" Target="/ppt/notesMasters/notesMaster1.xml" Id="Re7b2a04f2f0045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95c3d5fca48bb" /><Relationship Type="http://schemas.openxmlformats.org/officeDocument/2006/relationships/notesMaster" Target="/ppt/notesMasters/notesMaster1.xml" Id="R0525991cc8b547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c347b3524649da" /><Relationship Type="http://schemas.openxmlformats.org/officeDocument/2006/relationships/notesMaster" Target="/ppt/notesMasters/notesMaster1.xml" Id="R0c3ca3efd48b41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6b39309c794c67" /><Relationship Type="http://schemas.openxmlformats.org/officeDocument/2006/relationships/notesMaster" Target="/ppt/notesMasters/notesMaster1.xml" Id="R6249e84d48544d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8f03cc488543c6" /><Relationship Type="http://schemas.openxmlformats.org/officeDocument/2006/relationships/notesMaster" Target="/ppt/notesMasters/notesMaster1.xml" Id="R99540f4a787748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f2a82e38bf4d6c" /><Relationship Type="http://schemas.openxmlformats.org/officeDocument/2006/relationships/notesMaster" Target="/ppt/notesMasters/notesMaster1.xml" Id="R39670215e3704b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9910f64b0c4e58" /><Relationship Type="http://schemas.openxmlformats.org/officeDocument/2006/relationships/notesMaster" Target="/ppt/notesMasters/notesMaster1.xml" Id="Rd8b5df3ce7154f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9242a448ca4d9b" /><Relationship Type="http://schemas.openxmlformats.org/officeDocument/2006/relationships/notesMaster" Target="/ppt/notesMasters/notesMaster1.xml" Id="Re437a503019345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a88157bed2447e" /><Relationship Type="http://schemas.openxmlformats.org/officeDocument/2006/relationships/notesMaster" Target="/ppt/notesMasters/notesMaster1.xml" Id="R26fef7b22852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 Dong v1.5 实际程序截图。来源：Code/Dong_v1.5/docs/screenshots/overview.png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滚动预测公式与参数来自 Code/Dong_v1.5/microgrid/scheduler.py。该页说明离线滚动仿真，不代表真实硬件在线控制。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公式依据 Code/Dong_v1.5/microgrid/scheduler.py 与 models.py 的实现。0.58 和 0.78 为课程模型中使用的排放因子。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界面截图来自 v1.5 实际离屏运行，窗口尺寸 1500×920。来源：Code/Dong_v1.5/docs/screenshots/rolling.png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截图来源：Code/Dong_v1.5/docs/screenshots/lab.png。Monte Carlo 和容量范围来自 analysis.py 默认设置。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截图由用户于 2026-09-09 提供，显示公共仓库、6 次提交、1 个分支和 1 个标签。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结尾页使用微电网拓扑实际截图。来源：Code/Dong_v1.5/docs/screenshots/topology.png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22fddc60c41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0a2c42fc541f8" /><Relationship Type="http://schemas.openxmlformats.org/officeDocument/2006/relationships/slideLayout" Target="/ppt/slideLayouts/slideLayout1.xml" Id="R2795e4e0923743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95e4e0923743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37e9dd07246e4" /><Relationship Type="http://schemas.openxmlformats.org/officeDocument/2006/relationships/image" Target="/ppt/media/image.png" Id="R3fada1a0228d4024" /><Relationship Type="http://schemas.openxmlformats.org/officeDocument/2006/relationships/notesSlide" Target="/ppt/notesSlides/notesSlide1.xml" Id="R6f3a03e9e5d148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936e0bb154ebc" /><Relationship Type="http://schemas.openxmlformats.org/officeDocument/2006/relationships/notesSlide" Target="/ppt/notesSlides/notesSlide2.xml" Id="R27663c78fcfe4c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7092faf104d80" /><Relationship Type="http://schemas.openxmlformats.org/officeDocument/2006/relationships/notesSlide" Target="/ppt/notesSlides/notesSlide3.xml" Id="R75748e0f4c0c45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551ef95184f41" /><Relationship Type="http://schemas.openxmlformats.org/officeDocument/2006/relationships/notesSlide" Target="/ppt/notesSlides/notesSlide4.xml" Id="R6f1db8d76ac44c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7259ab85b4289" /><Relationship Type="http://schemas.openxmlformats.org/officeDocument/2006/relationships/notesSlide" Target="/ppt/notesSlides/notesSlide5.xml" Id="Re3da69ff585b45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6d740aef74c58" /><Relationship Type="http://schemas.openxmlformats.org/officeDocument/2006/relationships/image" Target="/ppt/media/image2.png" Id="Rfc0c288e34eb496c" /><Relationship Type="http://schemas.openxmlformats.org/officeDocument/2006/relationships/notesSlide" Target="/ppt/notesSlides/notesSlide6.xml" Id="R21e14be80d6b4d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a5e880516417b" /><Relationship Type="http://schemas.openxmlformats.org/officeDocument/2006/relationships/image" Target="/ppt/media/image3.png" Id="Rf99b2872953b4b08" /><Relationship Type="http://schemas.openxmlformats.org/officeDocument/2006/relationships/notesSlide" Target="/ppt/notesSlides/notesSlide7.xml" Id="R9dcb701566e745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8c14bc86d4dfe" /><Relationship Type="http://schemas.openxmlformats.org/officeDocument/2006/relationships/notesSlide" Target="/ppt/notesSlides/notesSlide8.xml" Id="Ra193f59cfabe47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24d03d25c4a83" /><Relationship Type="http://schemas.openxmlformats.org/officeDocument/2006/relationships/image" Target="/ppt/media/image4.png" Id="Rf033990a4d674b41" /><Relationship Type="http://schemas.openxmlformats.org/officeDocument/2006/relationships/notesSlide" Target="/ppt/notesSlides/notesSlide9.xml" Id="R928e810cd6824d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de96cdb504479" /><Relationship Type="http://schemas.openxmlformats.org/officeDocument/2006/relationships/notesSlide" Target="/ppt/notesSlides/notesSlide10.xml" Id="R24174722bb4648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1ef19116e4369" /><Relationship Type="http://schemas.openxmlformats.org/officeDocument/2006/relationships/notesSlide" Target="/ppt/notesSlides/notesSlide11.xml" Id="R8975f862d39243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80c5eb8cc46d0" /><Relationship Type="http://schemas.openxmlformats.org/officeDocument/2006/relationships/image" Target="/ppt/media/image5.png" Id="R63e4d09d724d4fbe" /><Relationship Type="http://schemas.openxmlformats.org/officeDocument/2006/relationships/notesSlide" Target="/ppt/notesSlides/notesSlide12.xml" Id="R846a423476554b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63768-0AB7-460B-9FC4-B4491C27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DDA5C-22E9-416E-B754-3B76D68C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SOUTHEAST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4687D-6234-4547-97AD-1E4D777A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COURSE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3C3BE-2E82-4655-BBD9-49C2D0AF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Dong 微电网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能源管理系统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F2346-D0DA-4A35-9E28-0B2901B2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D8E3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8E3E7"/>
                </a:solidFill>
                <a:latin typeface="Microsoft YaHei"/>
                <a:ea typeface="Microsoft YaHei"/>
                <a:cs typeface="Microsoft YaHei"/>
              </a:rPr>
              <a:t>96 时段经济调度、光伏不确定性与滚动预测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2AA6E-5CA7-4943-B7C8-303BB335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657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785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5F2B9-0573-4C6A-8AAD-7A0303DF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版本 1.5.0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BADAD-F2AA-40A3-8A9A-6A517BFF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B9CB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BD3"/>
                </a:solidFill>
                <a:latin typeface="Microsoft YaHei"/>
                <a:ea typeface="Microsoft YaHei"/>
                <a:cs typeface="Microsoft YaHei"/>
              </a:rPr>
              <a:t>汇报人：单人课程设计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B9CB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BD3"/>
                </a:solidFill>
                <a:latin typeface="Microsoft YaHei"/>
                <a:ea typeface="Microsoft YaHei"/>
                <a:cs typeface="Microsoft YaHei"/>
              </a:rPr>
              <a:t>2026 年 9 月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da1a0228d4024"/>
          <a:srcRect xmlns:a="http://schemas.openxmlformats.org/drawingml/2006/main" l="22277" t="0" r="222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6625" y="876300"/>
            <a:ext cx="4305300" cy="4762500"/>
          </a:xfrm>
          <a:prstGeom xmlns:a="http://schemas.openxmlformats.org/drawingml/2006/main" prst="roundRect">
            <a:avLst>
              <a:gd name="adj" fmla="val 221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610BE-6933-460E-89EA-C2D8E20B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905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Python + PySide6 + Matplotlib</a:t>
            </a:r>
          </a:p>
        </p:txBody>
      </p:sp>
    </p:spTree>
    <p:extLst>
      <p:ext uri="{BB962C8B-B14F-4D97-AF65-F5344CB8AC3E}">
        <p14:creationId xmlns:p14="http://schemas.microsoft.com/office/powerpoint/2010/main" val="2024852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7441AA-2DD4-41AB-B6FE-1EFACB05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EC2D5-1A6B-49FF-9616-5C17B1F4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课程目标与 96 时段运行闭环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02187-0264-4A86-A5AA-AC4B6C15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476D7-328D-4712-81F6-44AEF206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560B6-7E8C-41C8-8459-D279F89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把微电网调度过程做成可操作、可解释、可复核的桌面程序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9E7FB-2694-4B82-9DE3-00E7B014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3429000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3A00C-0652-41C6-9A2C-1F78D6E7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一个典型日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9E780-56F0-48AA-BA0D-FB0E00B7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5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00216-2045-4224-95F4-8D03555C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 15 分钟时段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45985-0D1A-4960-AA18-787DBFA3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rPr>
              <a:t>负荷、光伏、电价与设备参数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945C0-C965-46E7-AF57-961753B0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rPr>
              <a:t>调度曲线、成本、SOC、风险指标和报告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F20E6-AD80-4447-98B8-DC12DAB3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57375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B1F91-E40F-4C1D-AA6E-06BDD178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917C8-61A4-403F-8A12-21639ABE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28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594E0-3BD7-49D1-B764-8695ABC5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907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构造日前计划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8735F-20D5-47BD-9A39-05DABEE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P50 或光伏下界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动态规划安排设备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3B3FB-4956-407B-A185-80167B2D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57375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58DDD-BFE8-4DCE-BA59-433C998E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85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1F5FE-DB14-4784-A618-9664C275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28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2FA16-53D9-4BCA-A1F5-42B4E946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907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模拟实时执行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D5E10-1C12-4585-9831-8E088161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使用实际光伏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主网承担功率平衡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23CFA-E17A-4D1C-BC0D-87D10C8B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BB06C-AEEC-444B-9428-1F34DFDC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10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673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C384B-4966-4FEF-88F4-5E57BCBE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10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3E8E2-F84D-4BC7-B310-2DCF354E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719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滚动重新优化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9123B-6DA1-4792-94AA-D9218489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482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每小时修正未来 4h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只执行当前 1h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25367B-BE3D-444D-84EC-8AD701BD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38625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36BA4-39B8-4B1A-A9E6-C4FEF84E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10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92BCA-9857-4BE8-959C-5A27D43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10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F0F4A-71B1-40E5-B1F2-E3161AEF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719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分析并导出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A2CE76-79D0-4010-BA80-B937EE94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482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策略对比、实验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96 点明细与报告</a:t>
            </a:r>
          </a:p>
        </p:txBody>
      </p:sp>
      <p:cxnSp>
        <p:nvCxnSpPr>
          <p:cNvPr id="69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48500" y="2476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C43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7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44000" y="3095625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C43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22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7048500" y="4857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C43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27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5524500" y="3095625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85C"/>
            </a:solidFill>
            <a:prstDash val="dash"/>
            <a:tail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8294B1-4A39-4D64-8FD1-0B9D8F7D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492A2E-CE84-4946-9C01-945C4048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4645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380A34-A144-41AD-807E-79A57FB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12DE8-1AC2-4F6B-AF78-258F8C6D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程序整体框架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71F61-0432-49BB-BBD5-CE323EF1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D065E-A60A-4897-BFB3-A935AA35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FA12A-FF48-4E49-A0AF-0B686FFB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界面负责交互，核心算法保持独立，便于测试和继续扩展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CD2E9-A977-4677-89F6-492C9F76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BF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C3C1-CA09-47C0-B7E3-8315786D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81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PySide6 桌面界面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19F65-0973-41B0-9B9B-DE6D4B7F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运行总览  ·  实时仿真  ·  滚动调度中心  ·  拓扑  ·  策略对比  ·  场景实验室  ·  明细  ·  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01511-6C46-408C-A2B7-367E0A02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E6902-6FA0-4B97-B4E1-EED6669E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A39BB-9418-4DE4-A2A9-560DA2FA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scheduler.py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210AC-F1B0-44C5-96F4-43615244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动态规划、计划执行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滚动预测与电网判断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5DF51-1F44-4E4C-9426-203AFBB9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891F5-F909-416D-BD49-8F44B054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5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357AF-10C8-47D9-9F8B-8015086D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analysis.py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0483D-6F38-415E-8730-BA41E5A2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10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Monte Carlo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容量敏感性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865C9-ABFD-4762-BD42-450A9F26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97898-F410-4A61-9609-9D340B8B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22526-480D-4519-A014-162B3B9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data.py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2DF60-4C49-4BB2-BAE9-54D2E754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典型日、CSV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50Hertz 历史数据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AF8E4-F669-4EB5-AFDE-B22F11FA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F0CED-CDA2-4AEC-8866-90298B4E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73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196EA-E0E1-4BB6-AE88-48F783A6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46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46731"/>
                </a:solidFill>
                <a:latin typeface="Microsoft YaHei"/>
                <a:ea typeface="Microsoft YaHei"/>
                <a:cs typeface="Microsoft YaHei"/>
              </a:rPr>
              <a:t>reporting.py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665A7-5C5D-4DE8-A5A8-D8BA6AD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10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CSV、JSON、PNG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Markdown 报告包</a:t>
            </a:r>
          </a:p>
        </p:txBody>
      </p:sp>
      <p:cxnSp>
        <p:nvCxnSpPr>
          <p:cNvPr id="62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000250" y="2495550"/>
            <a:ext cx="4095750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9BAAB3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667250" y="2495550"/>
            <a:ext cx="1428750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9BAAB3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096000" y="2495550"/>
            <a:ext cx="1238250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9BAAB3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096000" y="2495550"/>
            <a:ext cx="3905250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9BAAB3"/>
            </a:solidFill>
            <a:prstDash val="solid"/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0117F-9EE5-49B5-856C-3D4F422E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A7D65D-0558-4262-8BBE-16E121D9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模型与数据层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D7886-42D3-43AF-816E-54A473E7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models.py：组件参数与约束    project.py：.dong 项目文件    tests：功率平衡、随机复现、滚动策略与 UI 回归</a:t>
            </a:r>
          </a:p>
        </p:txBody>
      </p:sp>
      <p:cxnSp>
        <p:nvCxnSpPr>
          <p:cNvPr id="69" name=""/>
          <p:cNvCxnSpPr>
            <a:stCxn xmlns:a="http://schemas.openxmlformats.org/drawingml/2006/main" id="9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2000250" y="4476750"/>
            <a:ext cx="40957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C0C6"/>
            </a:solidFill>
            <a:prstDash val="solid"/>
          </a:ln>
        </p:spPr>
      </p:cxnSp>
      <p:cxnSp>
        <p:nvCxnSpPr>
          <p:cNvPr id="70" name=""/>
          <p:cNvCxnSpPr>
            <a:stCxn xmlns:a="http://schemas.openxmlformats.org/drawingml/2006/main" id="13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4667250" y="4476750"/>
            <a:ext cx="14287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C0C6"/>
            </a:solidFill>
            <a:prstDash val="solid"/>
          </a:ln>
        </p:spPr>
      </p:cxnSp>
      <p:cxnSp>
        <p:nvCxnSpPr>
          <p:cNvPr id="71" name=""/>
          <p:cNvCxnSpPr>
            <a:stCxn xmlns:a="http://schemas.openxmlformats.org/drawingml/2006/main" id="1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6096000" y="4476750"/>
            <a:ext cx="12382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C0C6"/>
            </a:solidFill>
            <a:prstDash val="solid"/>
          </a:ln>
        </p:spPr>
      </p:cxnSp>
      <p:cxnSp>
        <p:nvCxnSpPr>
          <p:cNvPr id="72" name=""/>
          <p:cNvCxnSpPr>
            <a:stCxn xmlns:a="http://schemas.openxmlformats.org/drawingml/2006/main" id="21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6096000" y="4476750"/>
            <a:ext cx="39052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C0C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CF18CB-F574-4FD6-ACAE-E50D8CF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B5C32B-5CA8-4CAB-A05C-BB0681BB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0581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2876AD-ED7A-4D1F-9270-DB016E00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9ABF6-7283-47AA-AD30-26F28ADD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滚动预测策略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C8903-6417-4E2C-AC07-20C9FFCC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425A5-BC40-4E72-AB95-72DA485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EAAFE-2956-45CC-9665-1074B7F6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每 15 分钟更新偏差，每小时重算一次；看未来 4 小时，只执行当前 1 小时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67E44-3B01-4052-AD6D-D88C8179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时间轴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16966-BA6E-4672-B197-26D2425D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381125"/>
            <a:ext cx="2571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94459"/>
          </a:solidFill>
          <a:ln xmlns:a="http://schemas.openxmlformats.org/drawingml/2006/main" w="9525">
            <a:solidFill>
              <a:srgbClr val="3E5A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0E749-A91C-4D4A-A775-800B7861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3811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已观测数据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70833-AF93-4284-9D1C-D3DF8BA8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381125"/>
            <a:ext cx="1600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785C"/>
          </a:solidFill>
          <a:ln xmlns:a="http://schemas.openxmlformats.org/drawingml/2006/main" w="9525">
            <a:solidFill>
              <a:srgbClr val="75AB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D5AEA-0E2E-4726-B493-7D032E8D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381125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 1 小时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D1FBA-8FE9-44DF-85BB-CE1EA948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381125"/>
            <a:ext cx="4667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99C43"/>
          </a:solidFill>
          <a:ln xmlns:a="http://schemas.openxmlformats.org/drawingml/2006/main" w="9525">
            <a:solidFill>
              <a:srgbClr val="E8BC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E2D9B-137E-4C17-903F-46331481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38112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预测窗口共 4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3E76C-91F8-4CE0-8BE0-057C2A8C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669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当前时刻 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77275-D44C-4948-AC7E-BF924A27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66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t+1h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FB774-7069-43EE-A774-22EA363E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66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t+4h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34FAE-EB0A-4575-8C43-ECE4431D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2076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2E43"/>
          </a:solidFill>
          <a:ln xmlns:a="http://schemas.openxmlformats.org/drawingml/2006/main" w="9525">
            <a:solidFill>
              <a:srgbClr val="2E4B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97CEC-7295-42A5-8685-0EE0CEEF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8EB6F-FAC2-4C30-B417-D07F56EA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1DF23-6519-42CB-9A67-2818CCC9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读取新实测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43FB9-D388-4BC1-8549-C0A3F441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71825"/>
            <a:ext cx="129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获得 t-1 时段误差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14BAF-A1D0-404A-BB7B-4DA2C02F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62250"/>
            <a:ext cx="2076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2E43"/>
          </a:solidFill>
          <a:ln xmlns:a="http://schemas.openxmlformats.org/drawingml/2006/main" w="9525">
            <a:solidFill>
              <a:srgbClr val="2E4B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C9652-D2A7-4F87-9D58-A1ADC16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85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CE092-2E49-47CA-AB5D-5044510E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3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D2576-3447-4869-8BB9-76AE0D12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95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EWMA 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508DD-BAB6-424B-B13A-CA9C3530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71825"/>
            <a:ext cx="129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35% 新误差 + 65% 旧偏差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79E32-412B-4EAE-851D-2A16045B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62250"/>
            <a:ext cx="2076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2E43"/>
          </a:solidFill>
          <a:ln xmlns:a="http://schemas.openxmlformats.org/drawingml/2006/main" w="9525">
            <a:solidFill>
              <a:srgbClr val="2E4B6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ED0D1-89BC-4CCD-A823-979239BD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C925E-4675-4ACE-AAD8-F38B16D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33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6477A-8B22-43C3-AE7A-2434890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修正未来 4h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CC7A1-89F9-4B21-9795-DC00366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71825"/>
            <a:ext cx="129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偏差随预测距离按 0.82 衰减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EA3DE-1CF8-420C-9A29-41288126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2076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2E43"/>
          </a:solidFill>
          <a:ln xmlns:a="http://schemas.openxmlformats.org/drawingml/2006/main" w="9525">
            <a:solidFill>
              <a:srgbClr val="2E4B6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CB4FB-B6D6-4575-8554-150BD94E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673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12DD5C-97D2-4043-9903-49CBFF10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5D78C2-E743-48CD-B413-5B15A158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动态规划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37CEDF-898B-42AD-8617-DA016A1D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129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重排储能、主网与柴油机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01DD8E-9FA0-466D-B2F5-5A9AD5A1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2076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2E43"/>
          </a:solidFill>
          <a:ln xmlns:a="http://schemas.openxmlformats.org/drawingml/2006/main" w="9525">
            <a:solidFill>
              <a:srgbClr val="2E4B6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0467AB-65C4-4D7C-AB8C-E567D8B2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D05547-14BA-46A1-AAC4-0680EF65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33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FA3885-08E2-4504-8E56-FF53F085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95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执行前 1h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32D130-7240-4719-B55E-B99872A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71825"/>
            <a:ext cx="129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下一小时获得新数据后重复</a:t>
            </a:r>
          </a:p>
        </p:txBody>
      </p:sp>
      <p:cxnSp>
        <p:nvCxnSpPr>
          <p:cNvPr id="95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59080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9C43"/>
            </a:solidFill>
            <a:prstDash val="solid"/>
            <a:tailEnd type="arrow" w="sm" len="sm"/>
          </a:ln>
        </p:spPr>
      </p:cxnSp>
      <p:cxnSp>
        <p:nvCxnSpPr>
          <p:cNvPr id="96" name=""/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91490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9C43"/>
            </a:solidFill>
            <a:prstDash val="solid"/>
            <a:tailEnd type="arrow" w="sm" len="sm"/>
          </a:ln>
        </p:spPr>
      </p:cxnSp>
      <p:cxnSp>
        <p:nvCxnSpPr>
          <p:cNvPr id="97" name=""/>
          <p:cNvCxnSpPr>
            <a:stCxn xmlns:a="http://schemas.openxmlformats.org/drawingml/2006/main" id="26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23900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9C43"/>
            </a:solidFill>
            <a:prstDash val="solid"/>
            <a:tailEnd type="arrow" w="sm" len="sm"/>
          </a:ln>
        </p:spPr>
      </p:cxnSp>
      <p:cxnSp>
        <p:nvCxnSpPr>
          <p:cNvPr id="98" name=""/>
          <p:cNvCxnSpPr>
            <a:stCxn xmlns:a="http://schemas.openxmlformats.org/drawingml/2006/main" id="3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956310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9C43"/>
            </a:solidFill>
            <a:prstDash val="solid"/>
            <a:tailEnd type="arrow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FD1EDB-5E5C-4B5D-A2CC-1792CA2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5191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2E43"/>
          </a:solidFill>
          <a:ln xmlns:a="http://schemas.openxmlformats.org/drawingml/2006/main" w="9525">
            <a:solidFill>
              <a:srgbClr val="3651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AAC6EC-C9E2-4966-A2A8-8DA35AE9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误差修正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3E1796-3E6E-4A21-98D6-88A0999D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bₜ = 0.35 eₜ₋₁ + 0.65 bₜ₋₁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1E51F1-C46D-488B-907B-38825FFA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rPr>
              <a:t>只读取已经发生的实际光伏，不使用未来实测值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82EA14-69DD-4311-94EF-EFA89125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14850"/>
            <a:ext cx="5553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2E43"/>
          </a:solidFill>
          <a:ln xmlns:a="http://schemas.openxmlformats.org/drawingml/2006/main" w="9525">
            <a:solidFill>
              <a:srgbClr val="3651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31E3AB-BE15-490C-AF18-CD72A335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滚动预测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4E2FBE-5607-442D-A8DD-71C0082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482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P̂ᵣₒₗₗ(t+k) = clip[P̂day(t+k) + bₜ·0.82ᵏ⁄⁴]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A539F0-8DA7-4ECC-9B28-8B9581BB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673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rPr>
              <a:t>主网负载率达到 82% 时标记紧张，高价时段进入削峰判断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8DDB87-B077-40DF-8BF1-8A40C1DD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AFC0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FC0C9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99DA8A-5C5A-4C89-AFE9-E259E826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AFC0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FC0C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0005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88D8A-2B75-4248-92E1-770828E3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680CE-85D8-4F0F-B69F-4D5D8F42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核心算法与电气工程模型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AA0EE-1C6C-428A-9596-6350C786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88C5D-113A-4F02-B657-B90A324E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DBA14-C0D3-4E66-A12D-7E749DEC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调度目标在满足功率平衡和设备约束的前提下降低运行成本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37AE1-8B2B-4F00-A741-818EB42C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29ADF-5117-4D63-915F-4AAFD799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69AA1-6A92-47C4-900E-03B96F58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功率平衡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1FC13-253E-4D1F-9DCB-E5786217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Ppv − Pcurt + Pbat + Pdiesel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+ Pgrid,in − Pgrid,out + Punserved − Pload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D070E-721C-447F-8F17-FDAB8B1B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每个 15 分钟点都检查，误差接近 0 kW。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730AC-883C-49EF-9827-F4DD87DB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7E3C0-AAB7-4404-A50C-11CB4D8F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5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35DC8-545F-4AD5-96B9-CC7F2E62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383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储能 SOC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B0ED6-DE55-4645-B134-C919C601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放电：Eₜ₊₁ = Eₜ − Pbat·Δt / ηdis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充电：Eₜ₊₁ = Eₜ + |Pbat|·Δt·ηch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4020E-7508-47FA-8B88-16B1ED11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SOC 同时受容量、充放电功率和日末约束限制。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4EE46-A116-4FD8-B97E-40EE520B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5238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4E869-1A0F-4716-8975-24FEB5C9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B669A-B934-4BEE-A970-7F0EE724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运行成本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72D55-4BDC-48A6-952E-F1824466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C = ΣΔt(Pgrid·λ + Pdiesel·cdiesel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+ |Pbat|·ccycle − Pexport·λsell) + 罚函数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C11F9-0449-4F5B-BCDC-41E6ADE5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分时电价决定购电时机，柴油费用按发电量计价。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77A94-8DC1-47D9-A67C-A329F4D9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5238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A4B0B-3A94-4161-A6C2-7C58084A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73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C5BE2-C791-44D2-A55E-4079BAC6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243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46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46731"/>
                </a:solidFill>
                <a:latin typeface="Microsoft YaHei"/>
                <a:ea typeface="Microsoft YaHei"/>
                <a:cs typeface="Microsoft YaHei"/>
              </a:rPr>
              <a:t>碳排放估算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8D108-6678-4566-A1FD-F222AE3C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Carbon = Egrid,in × 0.58 + Ediesel × 0.78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13232-B9CB-4084-9716-5330A36F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816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两个系数是单位电量排放因子，因此不能只把电量直接相加。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1997F-4A83-48D6-9276-9FF95137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54E50-5D36-4BFB-8E11-C04E6972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2213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D7C01-E5D6-4F3F-B3F4-DEA961D3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2D80D-5C3F-4C39-8321-DD7CC7A5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软件界面与演示路径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D0EBA-22BD-40B8-BBAC-B8C3FCB2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76C15-97BA-4E46-9770-B0C18E42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AF4E1-774C-4D62-9DF3-4E6E08D6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v1.5 在滚动调度中心直接显示五步策略闭环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c288e34eb496c"/>
          <a:stretch xmlns:a="http://schemas.openxmlformats.org/drawingml/2006/main"/>
        </p:blipFill>
        <p:spPr>
          <a:xfrm xmlns:a="http://schemas.openxmlformats.org/drawingml/2006/main">
            <a:off x="728455" y="1381125"/>
            <a:ext cx="7267989" cy="4457700"/>
          </a:xfrm>
          <a:prstGeom xmlns:a="http://schemas.openxmlformats.org/drawingml/2006/main" prst="roundRect">
            <a:avLst>
              <a:gd name="adj" fmla="val 213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FC8DB-54D8-4D4E-8DE0-520CAC19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1432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784B3-7FC4-4182-A19D-1E4BD4D4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建议讲解顺序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E027F-34A7-4EE5-A4C1-D3C96EF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B84EC-EF5E-4017-B837-2BE649F1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3536D-53F3-4F9E-9C13-437E9AE2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先看五步流程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10F3D-3903-4606-938C-3ED83446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051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5D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5D3DA"/>
                </a:solidFill>
                <a:latin typeface="Microsoft YaHei"/>
                <a:ea typeface="Microsoft YaHei"/>
                <a:cs typeface="Microsoft YaHei"/>
              </a:rPr>
              <a:t>解释 4h 预测窗与 1h 执行窗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AAAF1-518B-4AA2-83B7-7EB967F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85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D5E7C-64E5-4D86-AAF5-79E431C5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1A226-4319-4FF5-AC08-B796CF0D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9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再看曲线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CE3F6-D1EA-49C2-8DFB-91ED6B7A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33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5D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5D3DA"/>
                </a:solidFill>
                <a:latin typeface="Microsoft YaHei"/>
                <a:ea typeface="Microsoft YaHei"/>
                <a:cs typeface="Microsoft YaHei"/>
              </a:rPr>
              <a:t>对比日前预测、滚动修正与实测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BF90D-83BB-413C-B004-B92795AB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E9DFE-0673-4831-92A7-2FAF5BDB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CFC14-A70A-451A-8333-F866C965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38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最后看判断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1F5D7-E2BD-4A8B-A608-B2E70C52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62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5D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5D3DA"/>
                </a:solidFill>
                <a:latin typeface="Microsoft YaHei"/>
                <a:ea typeface="Microsoft YaHei"/>
                <a:cs typeface="Microsoft YaHei"/>
              </a:rPr>
              <a:t>说明 EWMA、82% 阈值和重优化时刻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0FDDB-ED02-42F3-B03E-AB2A8F2D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625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3E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2C6"/>
                </a:solidFill>
                <a:latin typeface="Microsoft YaHei"/>
                <a:ea typeface="Microsoft YaHei"/>
                <a:cs typeface="Microsoft YaHei"/>
              </a:rPr>
              <a:t>界面明确标注“离线滚动仿真”，避免把模型回放误认为真实在线监控。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A2DC8-B7E7-46C4-B001-4C7014B1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F1032-E638-4E78-ACBE-78287D4F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7313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8D1AE-C359-4BD6-9542-2843BFB5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567F5-39CE-455B-95C9-8BD295D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场景实验室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FD402-9226-408E-8A56-B2ADCEAC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59088-FE57-4F25-AD64-3B3FDB54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7FF62-8BA6-49B4-8793-283C45E0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从一个典型日扩展到随机误差和设备容量变化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D1526-9E7F-4572-9667-A5A73AF9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390525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F8750-C51A-484E-A469-D7666FD2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Monte Carlo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529CA-23D4-4BAE-9D1E-9B82BBA5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默认生成 200 个具有时间相关性的光伏误差场景。三种策略使用同一批场景，比较成本、购电量、最低 SOC、弃光和失负荷的 P5、P50 与 P95。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F8D80-14AA-4007-98E5-21909D28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容量敏感性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AE4EE-4ADD-46BB-BC0A-4205012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改变储能 60–300 kWh 或光伏 60–240 kW，逐点重新优化，用趋势判断边际收益。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b2872953b4b08"/>
          <a:stretch xmlns:a="http://schemas.openxmlformats.org/drawingml/2006/main"/>
        </p:blipFill>
        <p:spPr>
          <a:xfrm xmlns:a="http://schemas.openxmlformats.org/drawingml/2006/main">
            <a:off x="4443620" y="1466850"/>
            <a:ext cx="7019511" cy="4305300"/>
          </a:xfrm>
          <a:prstGeom xmlns:a="http://schemas.openxmlformats.org/drawingml/2006/main" prst="roundRect">
            <a:avLst>
              <a:gd name="adj" fmla="val 221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00ED5-2387-4A22-9B81-DCD0661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9245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实验在后台线程运行，带进度、取消和数值表，界面不会被长计算阻塞。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98600-04C4-4E06-9368-66A6D5A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76B0C-3FA0-4A9C-879C-854FC3B2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5077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F52F1-406A-4B2F-860C-52A40283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F477F-3274-41C4-B32F-8CC2BC69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创新点与超出基本要求的功能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C943C-222B-4F17-B3D4-39502AA0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967A7-C46A-4B3B-915A-C4BFA689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5385A-7100-4C03-8734-E95E1757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创新集中在不确定性、滚动决策和工程化交付，而不只是增加界面数量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552F8-8EFF-414F-9721-E07E258B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0" cy="45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C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99F75-F3F3-4419-9276-B1107C1F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12B6C-C760-4021-B587-64A8DFD5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588BA-E73E-4207-B2D2-91E41789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52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三策略公平对比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2FBC9-4BF9-49FC-806B-23F940BB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288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确定性 P50、风险感知下界和滚动预测在同一实际光伏曲线上执行。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49DF8-A1A0-42FA-9CD2-A5A49A2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85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F41D8-70DC-4175-B874-FBFB4625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3FDB2-0727-47AC-BFBB-DD3BB47E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52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可解释滚动调度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895ED-D9A9-4196-929E-0A2BA63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288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EWMA 更新误差，每小时动态规划未来 4 小时，仅执行当前 1 小时。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6E6A9-A810-4CBE-A3BF-F2D884F8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754F4-904F-401B-B4FC-959DD86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E423E-D9A3-46F1-AE44-1B603A41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概率与容量实验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43ED9-C02D-4418-810A-EAD3699C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148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AR(1) 相关误差 Monte Carlo 加容量敏感性，输出分位数和超限概率。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CE487-1B1B-47AC-A237-3A31996A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673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0C356-8383-4F49-A02B-AD9909F3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761BB-1586-45AC-9B8B-052D33CB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38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可复现的软件工程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69316-2336-4001-A4E5-E2E26120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148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.dong 项目、报告包、测试、Git 记录和 Windows 便携发布共同形成交付闭环。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6DC53-FEC8-47D7-A25B-BB1BF43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76900"/>
            <a:ext cx="4114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3CBB3-A035-446A-9709-AB8B63B6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76900"/>
            <a:ext cx="411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v1.5：修复四方案报告图，并新增滚动策略图解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A44EEC-3F12-414A-B809-982B8DA5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009E9-05DD-4693-A6F5-9182BA52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0212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D2913-FDB9-45F5-A433-8A7B5F8B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D3CAE-BC3A-4230-B263-43C65978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Git 使用记录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225A4-643D-4063-926E-B1DC40C8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B36F4-CC47-48E2-A182-93079658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F7269-246E-4ED0-B015-0368E6F8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GitHub 公共仓库已建立，main 分支、提交历史和版本标签均可在线查看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EBBC7-5457-4018-8ADE-065AF4FE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2476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4AC3D-68DC-46AE-9CE4-0659D826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仓库状态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1B0F7-A492-4808-A76A-EF7F1760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BCDB2-96AF-4EB9-BE73-094A376A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431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rPr>
              <a:t>COMMITS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2AEE2-4CEB-46AC-B00A-DCCAF88D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2B58B-2B1B-49B4-A47E-E185C9CC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rPr>
              <a:t>BRANCH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1058B-D630-4789-A2B5-ACBD5829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5558C-1E5D-42EC-A5FF-FFE3AF0C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rPr>
              <a:t>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5227F-ACC2-47CD-B12A-3DCF9A34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PUBLIC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1B398-99C0-454D-B47D-11B3F059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43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0D8"/>
                </a:solidFill>
                <a:latin typeface="Microsoft YaHei"/>
                <a:ea typeface="Microsoft YaHei"/>
                <a:cs typeface="Microsoft YaHei"/>
              </a:rPr>
              <a:t>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CFB74-0AAE-4D3B-847F-2E8207F6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已验证记录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CDF1D-6F84-485B-A9F6-81088C67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8276182  v1.4 功能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2a81811  Git 里程碑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3990a4d674b41"/>
          <a:srcRect xmlns:a="http://schemas.openxmlformats.org/drawingml/2006/main" l="0" t="10648" r="0" b="106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9450" y="1371600"/>
            <a:ext cx="8420100" cy="400050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8416B-16B3-4CA6-B2D7-DD5BFA6F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62600"/>
            <a:ext cx="84201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BF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669B5-3CE6-49DE-A2F5-53CEE117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62600"/>
            <a:ext cx="8039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仓库：3121304904/Dong-Microgrid-EMS    最新截图已显示 v1.4 推送成功；v1.5 将形成新的修复提交。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741DF-3AE6-4461-ABD3-DA3E970D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E4EC0-57B7-4A72-83DB-BD221AAC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6868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5F1D1-4249-4E8B-9FD0-3EA1CBA6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923B8-1838-4079-8E55-5DA3AA08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本人完成的功能与承担的任务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DD37B-3871-4752-861B-B7EAB186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AB232-25CC-45CD-8B02-90C5772D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EAC35-71D6-4E39-A67B-8AFA645F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本课程设计由本人独立完成，任务按真实开发流程归纳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FE40A-855E-49CB-82E7-4F7C117B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235"/>
          </a:solidFill>
          <a:ln xmlns:a="http://schemas.openxmlformats.org/drawingml/2006/main" w="47625">
            <a:solidFill>
              <a:srgbClr val="D99C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06742-CD45-49A1-ABB6-4D0A89F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9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1 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AEA10-1B7A-4636-8C31-A734DC1D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8D62B-586F-4C7D-8728-17CB83C8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6D4DA"/>
                </a:solidFill>
                <a:latin typeface="Microsoft YaHei"/>
                <a:ea typeface="Microsoft YaHei"/>
                <a:cs typeface="Microsoft YaHei"/>
              </a:rPr>
              <a:t>需求、代码、测试、文档与答辩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3B241-7E6D-40D2-92A0-7AC57521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95424-4060-4368-92EF-ED11368D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57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C1849-A091-4239-9B14-6DAD4BC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需求与架构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CF565-B238-4F63-9A93-FD1E77C1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确定桌面应用范围，设计八页工作台和模块边界。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01723-CFBE-44B4-A638-C870B79D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EFF80-E6C3-4746-9DD3-40E25F77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857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5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608DF-E2AB-4E31-9CEF-92BE41A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算法与电气模型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25533-4403-4191-9912-1955D402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实现功率平衡、SOC、成本、动态规划和滚动调度。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AC929-4E9D-4FA4-B0E5-44F58421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1875C-4A65-47CF-82F5-9501BE22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57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B0D6B-515A-4698-AB88-C13F992B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数据与实验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E1528-E2F9-4CB5-A19F-FD151616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接入 50Hertz，完成 Monte Carlo 与容量敏感性。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78251-D658-4D67-A5BB-2446EE58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60375-CE7B-454E-A6E9-435F63C0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857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73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90B7E-A19A-4552-A76E-3A3D95C1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33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46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46731"/>
                </a:solidFill>
                <a:latin typeface="Microsoft YaHei"/>
                <a:ea typeface="Microsoft YaHei"/>
                <a:cs typeface="Microsoft YaHei"/>
              </a:rPr>
              <a:t>工程化交付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326AF-2CC1-4A10-ADFB-601CF80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340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测试、EXE 打包、Git、说明书、演讲稿和 PPT。</a:t>
            </a:r>
          </a:p>
        </p:txBody>
      </p:sp>
      <p:cxnSp>
        <p:nvCxnSpPr>
          <p:cNvPr id="57" name=""/>
          <p:cNvCxnSpPr>
            <a:stCxn xmlns:a="http://schemas.openxmlformats.org/drawingml/2006/main" id="10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4095750" y="2190750"/>
            <a:ext cx="666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EACB4"/>
            </a:solidFill>
            <a:prstDash val="solid"/>
          </a:ln>
        </p:spPr>
      </p:cxnSp>
      <p:cxnSp>
        <p:nvCxnSpPr>
          <p:cNvPr id="58" name=""/>
          <p:cNvCxnSpPr>
            <a:stCxn xmlns:a="http://schemas.openxmlformats.org/drawingml/2006/main" id="14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7429500" y="2190750"/>
            <a:ext cx="3810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EACB4"/>
            </a:solidFill>
            <a:prstDash val="solid"/>
          </a:ln>
        </p:spPr>
      </p:cxnSp>
      <p:cxnSp>
        <p:nvCxnSpPr>
          <p:cNvPr id="59" name=""/>
          <p:cNvCxnSpPr>
            <a:stCxn xmlns:a="http://schemas.openxmlformats.org/drawingml/2006/main" id="18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4095750" y="3714750"/>
            <a:ext cx="66675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EACB4"/>
            </a:solidFill>
            <a:prstDash val="solid"/>
          </a:ln>
        </p:spPr>
      </p:cxnSp>
      <p:cxnSp>
        <p:nvCxnSpPr>
          <p:cNvPr id="60" name=""/>
          <p:cNvCxnSpPr>
            <a:stCxn xmlns:a="http://schemas.openxmlformats.org/drawingml/2006/main" id="22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7429500" y="3714750"/>
            <a:ext cx="38100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EACB4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4DBB5F-2DF5-439A-9BB0-4BED0606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DB3791-AA10-4324-85E7-B10A748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63860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B59DA-F147-4CF1-BF0A-7F149B1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BCF50-9CBC-406D-90E2-F8642DD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大模型使用心得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A634D-A8C5-49E0-904A-0D5562D5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31A11-22D3-4D81-8849-3BA5A844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77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BE3A0-02AB-4804-BD6E-FB684029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大模型提升实现效率，项目负责人仍需定义问题、验证结果并承担答辩责任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7F335-4D8F-4801-A025-B877355D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609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F198E-A1DF-48B0-9103-1F4D9350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85875"/>
            <a:ext cx="609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3E7E3-91E4-4CCD-B5F4-E7CD83B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大模型可以帮助我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94270-1F37-4487-A1C2-0C8C7298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需求拆解和代码草案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解释陌生的电气工程概念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定位错误并补充测试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整理说明书、讲稿和 PPT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C9C16-2606-46BA-A958-A1AF7461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大模型不能替代我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643A0-E16C-4859-B587-4C96E675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不能保证所有结论正确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不了解未提供的真实现场条件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不能替我确认参数来源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不能替我解释取舍或承担责任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3EDC8-B620-4818-97E5-4C3FA17E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我的使用技巧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3CC77-FD77-44D3-ADE4-1DF8F1F1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74F52-F4FA-4176-B6A1-12673F99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38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提供完整上下文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2A6EF-144A-4ECB-81BF-49DB78CE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626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老师要求、现有代码和数据路径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52A6B-E50F-4507-9893-38F34C9B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57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EB96C-D2C4-4804-9635-0D5C9F2A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38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拆成小任务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AF5E2-F88D-4FFD-882C-1A16787F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626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每一步都能运行、截图或测试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6CC6A-5376-4EA3-B81E-03C0C7C2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57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785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7B9A5-E999-4A41-B69B-87D3AAB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38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核对公式与边界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3BBC2-123D-4C36-A7CA-6AF5375B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626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重点检查单位、符号和输入范围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40597-2D65-4B12-9377-FE9838B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57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B956E-F84F-44D3-A16A-835299ED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38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保留修改证据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4711A-3404-4318-B352-0EE4B8EE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5626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181"/>
                </a:solidFill>
                <a:latin typeface="Microsoft YaHei"/>
                <a:ea typeface="Microsoft YaHei"/>
                <a:cs typeface="Microsoft YaHei"/>
              </a:rPr>
              <a:t>用 Git、测试与导出报告追踪过程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F436F-0CE5-43B7-9777-B94D16C1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Dong 微电网能源管理系统 v1.5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15F5DD-3C02-479F-9E76-6C1025C7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A979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27268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CA07A-856D-4932-A781-4F9C91B8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C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B6C9E-567E-4F83-89E3-67772828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课程设计总结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77F8C-DFEB-4CA2-A8DC-2B528C4A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66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从日前计划走向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可解释的滚动调度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B3949-9347-4153-A635-21917B6D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4E0E5"/>
                </a:solidFill>
                <a:latin typeface="Microsoft YaHei"/>
                <a:ea typeface="Microsoft YaHei"/>
                <a:cs typeface="Microsoft YaHei"/>
              </a:rPr>
              <a:t>程序已经形成输入、预测、优化、执行、分析和导出的完整闭环。v1.5 修复运行报告错误，并把滚动策略直接画进界面和答辩材料。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4D40E-10AB-4ABC-AD23-CA9141C2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9C43"/>
                </a:solidFill>
                <a:latin typeface="Microsoft YaHei"/>
                <a:ea typeface="Microsoft YaHei"/>
                <a:cs typeface="Microsoft YaHei"/>
              </a:rPr>
              <a:t>谢谢老师，请批评指正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4d09d724d4fbe"/>
          <a:srcRect xmlns:a="http://schemas.openxmlformats.org/drawingml/2006/main" l="20548" t="0" r="205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1000125"/>
            <a:ext cx="4619625" cy="4810125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BD609-BAE1-41F2-AD91-192E1E62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048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2235"/>
                </a:solidFill>
                <a:latin typeface="Microsoft YaHei"/>
                <a:ea typeface="Microsoft YaHei"/>
                <a:cs typeface="Microsoft YaHei"/>
              </a:rPr>
              <a:t>Dong Microgrid EMS  ·  v1.5.0</a:t>
            </a:r>
          </a:p>
        </p:txBody>
      </p:sp>
    </p:spTree>
    <p:extLst>
      <p:ext uri="{BB962C8B-B14F-4D97-AF65-F5344CB8AC3E}">
        <p14:creationId xmlns:p14="http://schemas.microsoft.com/office/powerpoint/2010/main" val="1940920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2026-09-09T13:16:19.2180000Z</dcterms:created>
  <dcterms:modified xsi:type="dcterms:W3CDTF">2026-09-09T13:16:19.2180000Z</dcterms:modified>
</coreProperties>
</file>